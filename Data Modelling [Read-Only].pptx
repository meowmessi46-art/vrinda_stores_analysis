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Gill Sans MT" panose="020B0502020104020203" pitchFamily="34" charset="0"/>
      <p:regular r:id="rId19"/>
      <p:bold r:id="rId20"/>
      <p:italic r:id="rId21"/>
      <p:boldItalic r:id="rId22"/>
    </p:embeddedFont>
    <p:embeddedFont>
      <p:font typeface="Nunito" pitchFamily="2" charset="0"/>
      <p:regular r:id="rId23"/>
      <p:bold r:id="rId24"/>
      <p:italic r:id="rId25"/>
      <p:boldItalic r:id="rId26"/>
    </p:embeddedFont>
    <p:embeddedFont>
      <p:font typeface="Poppins" panose="00000500000000000000" pitchFamily="2" charset="0"/>
      <p:regular r:id="rId27"/>
      <p:bold r:id="rId28"/>
      <p:italic r:id="rId29"/>
      <p:boldItalic r:id="rId30"/>
    </p:embeddedFont>
    <p:embeddedFont>
      <p:font typeface="Quattrocento Sans" panose="020B0502050000020003" pitchFamily="34" charset="0"/>
      <p:regular r:id="rId31"/>
      <p:bold r:id="rId32"/>
    </p:embeddedFont>
    <p:embeddedFont>
      <p:font typeface="Roboto" panose="02000000000000000000" pitchFamily="2" charset="0"/>
      <p:regular r:id="rId33"/>
      <p:bold r:id="rId34"/>
      <p:italic r:id="rId35"/>
      <p:boldItalic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6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241b5797d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241b5797d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b27e910ea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b27e910ea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24a0069cf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24a0069cf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24a0069cf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24a0069cfc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24a0069cf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24a0069cf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24a0069cfc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24a0069cfc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24a0069cf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24a0069cf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24a0069cf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24a0069cf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24a0069cf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24a0069cf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24a0069cfc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24a0069cfc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24a0069cf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24a0069cfc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24a0069cfc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24a0069cf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24a0069cfc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24a0069cfc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24a0069cfc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24a0069cfc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b57b2f20b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b57b2f20b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55977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27489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677213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49140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42387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478426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68517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92118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7843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806389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603944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1293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394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Modelling in </a:t>
            </a:r>
            <a:r>
              <a:rPr lang="en" dirty="0" err="1"/>
              <a:t>powerBI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2A5AA4-811F-7B4D-F8C4-86523C5B0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021" y="218245"/>
            <a:ext cx="766957" cy="7669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AB1AF1-31B5-F551-B5E0-1890A34BAC25}"/>
              </a:ext>
            </a:extLst>
          </p:cNvPr>
          <p:cNvSpPr txBox="1"/>
          <p:nvPr/>
        </p:nvSpPr>
        <p:spPr>
          <a:xfrm>
            <a:off x="5535579" y="3358731"/>
            <a:ext cx="24105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Dr. Jitha P Nair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FF1571-8D31-FFDC-1392-47F3858F1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80" y="193823"/>
            <a:ext cx="1634533" cy="4086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>
                <a:latin typeface="Nunito"/>
                <a:ea typeface="Nunito"/>
                <a:cs typeface="Nunito"/>
                <a:sym typeface="Nunito"/>
              </a:rPr>
              <a:t>Understanding and Managing Relationships in Power BI Desktop</a:t>
            </a:r>
            <a:endParaRPr sz="2700"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0" name="Google Shape;90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Relationships between tables are essential for accurate analysis and reporting in Power BI Desktop.</a:t>
            </a:r>
            <a:endParaRPr sz="1400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Power BI Desktop offers automatic relationship detection and manual creation/editing options.</a:t>
            </a:r>
            <a:endParaRPr sz="140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endParaRPr sz="140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5A7A02-D955-AD50-62E1-DA859E901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021" y="218245"/>
            <a:ext cx="766957" cy="7669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31E84E-A620-7E9C-F5C5-0458FCAC0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80" y="193823"/>
            <a:ext cx="1634533" cy="4086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Quattrocento Sans"/>
              <a:buNone/>
            </a:pPr>
            <a:r>
              <a:rPr lang="en" sz="2700" b="1">
                <a:latin typeface="Nunito"/>
                <a:ea typeface="Nunito"/>
                <a:cs typeface="Nunito"/>
                <a:sym typeface="Nunito"/>
              </a:rPr>
              <a:t>Auto detecting Relationships</a:t>
            </a:r>
            <a:endParaRPr sz="36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2400"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6" name="Google Shape;96;p15"/>
          <p:cNvSpPr txBox="1">
            <a:spLocks noGrp="1"/>
          </p:cNvSpPr>
          <p:nvPr>
            <p:ph type="body" idx="1"/>
          </p:nvPr>
        </p:nvSpPr>
        <p:spPr>
          <a:xfrm>
            <a:off x="361225" y="18298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Power BI Desktop automatically attempts to detect relationships when querying multiple tables.</a:t>
            </a:r>
            <a:endParaRPr sz="1400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It analyzes column names to identify potential relationships.</a:t>
            </a:r>
            <a:endParaRPr sz="1400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Autodetect sets Cardinality, Cross filter direction, and Make this relationship active.</a:t>
            </a:r>
            <a:endParaRPr sz="1400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Relationships are created automatically with high confidence matches.</a:t>
            </a:r>
            <a:endParaRPr sz="140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00000"/>
                </a:solidFill>
              </a:rPr>
              <a:t>Follow the steps:</a:t>
            </a:r>
            <a:endParaRPr sz="1400" b="1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On the Modeling tab, select Manage relationships &gt; Autodetect.</a:t>
            </a:r>
            <a:endParaRPr sz="1400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Power BI Desktop identifies and creates relationships based on column names.</a:t>
            </a:r>
            <a:endParaRPr sz="1400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Automatic configuration of Cardinality, Cross filter direction, and Make this relationship active.</a:t>
            </a:r>
            <a:endParaRPr sz="140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endParaRPr sz="1400">
              <a:solidFill>
                <a:srgbClr val="000000"/>
              </a:solidFill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7966800" y="4316625"/>
            <a:ext cx="117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691670-6E10-44D6-7169-F77B5849F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021" y="218245"/>
            <a:ext cx="766957" cy="7669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2321A2-1974-1C5C-648C-D8F2FA0CC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80" y="193823"/>
            <a:ext cx="1634533" cy="4086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>
                <a:latin typeface="Nunito"/>
                <a:ea typeface="Nunito"/>
                <a:cs typeface="Nunito"/>
                <a:sym typeface="Nunito"/>
              </a:rPr>
              <a:t>Manual Creation of Relationships</a:t>
            </a:r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On the Modeling tab, select Manage relationships &gt; New.</a:t>
            </a:r>
            <a:endParaRPr sz="1400">
              <a:solidFill>
                <a:srgbClr val="000000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In the Create relationship dialog box:</a:t>
            </a:r>
            <a:endParaRPr sz="1400">
              <a:solidFill>
                <a:srgbClr val="000000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Select the first table and the column for the relationship.</a:t>
            </a:r>
            <a:endParaRPr>
              <a:solidFill>
                <a:srgbClr val="000000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Select the second table and the corresponding column.</a:t>
            </a:r>
            <a:endParaRPr>
              <a:solidFill>
                <a:srgbClr val="000000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Click OK.</a:t>
            </a:r>
            <a:endParaRPr>
              <a:solidFill>
                <a:srgbClr val="000000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Default settings for Cardinality, Cross filter direction, and Make this relationship active are applied.</a:t>
            </a:r>
            <a:endParaRPr sz="1400">
              <a:solidFill>
                <a:srgbClr val="000000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Modify these settings as needed.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5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3F5B78-5377-A9B3-1E47-63432E886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021" y="218245"/>
            <a:ext cx="766957" cy="7669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2D7F91-22AA-6A1D-4F0C-52C3641C5E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80" y="193823"/>
            <a:ext cx="1634533" cy="4086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 Existing Relationships</a:t>
            </a:r>
            <a:endParaRPr/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On the Modeling tab, select Manage relationships.</a:t>
            </a:r>
            <a:endParaRPr sz="1400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The Manage relationships dialog box displays all existing relationships.</a:t>
            </a:r>
            <a:endParaRPr sz="1400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Edit relationships by selecting them and clicking Edit.</a:t>
            </a:r>
            <a:endParaRPr sz="1400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Modify settings such as Cardinality, Cross filter direction, and Make this relationship active.</a:t>
            </a:r>
            <a:endParaRPr sz="1400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Delete relationships if necessary.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5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A929D1-4572-EA4B-2DF2-34B35218D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021" y="218245"/>
            <a:ext cx="766957" cy="7669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500BDA-D0BD-E22B-8409-578470DE5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80" y="193823"/>
            <a:ext cx="1634533" cy="4086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Benefits of Proper Relationship Management</a:t>
            </a:r>
            <a:endParaRPr sz="3000"/>
          </a:p>
        </p:txBody>
      </p:sp>
      <p:sp>
        <p:nvSpPr>
          <p:cNvPr id="121" name="Google Shape;121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Accurate calculation of results using data from multiple tables.</a:t>
            </a:r>
            <a:endParaRPr sz="1400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Correct display of information in reports and visualizations.</a:t>
            </a:r>
            <a:endParaRPr sz="1400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Improved data integrity and consistency.</a:t>
            </a:r>
            <a:endParaRPr sz="1400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Enables cross-filtering and slicer interactions across related tables.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5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1AEB12-D951-D4A8-F581-4D5E925CC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021" y="218245"/>
            <a:ext cx="766957" cy="7669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2C2C18-CA52-8816-8284-9DEFEC876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80" y="193823"/>
            <a:ext cx="1634533" cy="4086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Cardinality in Power BI Relationships</a:t>
            </a:r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Cardinality defines the type of relationship between tables in Power BI.</a:t>
            </a:r>
            <a:endParaRPr sz="1400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Cardinality options determine how values in one column relate to values in another column.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00000"/>
                </a:solidFill>
              </a:rPr>
              <a:t>Many to One Relationship (*:1)</a:t>
            </a:r>
            <a:endParaRPr sz="1400" b="1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Many-to-one relationship is the most common type.</a:t>
            </a:r>
            <a:endParaRPr sz="1400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In this relationship, a column in one table can have multiple instances of a value.</a:t>
            </a:r>
            <a:endParaRPr sz="1400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The related table (lookup table) has only one instance of that value.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500"/>
              </a:spcBef>
              <a:spcAft>
                <a:spcPts val="1600"/>
              </a:spcAft>
              <a:buNone/>
            </a:pPr>
            <a:endParaRPr sz="1400" b="1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98A6CC-C3D5-3EB3-42D5-D755C8A87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021" y="218245"/>
            <a:ext cx="766957" cy="7669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FA5E1B-031C-0AB8-3EE7-9308535CD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80" y="193823"/>
            <a:ext cx="1634533" cy="4086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Cardinality in Power BI Relationships</a:t>
            </a:r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body" idx="1"/>
          </p:nvPr>
        </p:nvSpPr>
        <p:spPr>
          <a:xfrm>
            <a:off x="232125" y="174182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00000"/>
                </a:solidFill>
              </a:rPr>
              <a:t>One to One Relationship (1:1)</a:t>
            </a:r>
            <a:endParaRPr sz="1400" b="1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One-to-one relationship means that each value in a column of one table has a unique match in the related table.</a:t>
            </a:r>
            <a:endParaRPr sz="1400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Both tables have only one instance of a particular value.</a:t>
            </a:r>
            <a:endParaRPr sz="140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00000"/>
                </a:solidFill>
              </a:rPr>
              <a:t>One to Many Relationship (1:*)</a:t>
            </a:r>
            <a:endParaRPr sz="1400" b="1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One-to-many relationship occurs when each value in a column of one table has a unique match in the related table.</a:t>
            </a:r>
            <a:endParaRPr sz="1400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The related table can have multiple instances of the value from the primary table.</a:t>
            </a:r>
            <a:endParaRPr sz="140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endParaRPr sz="140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F598D4-E3E7-F41D-74CF-202309A83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021" y="218245"/>
            <a:ext cx="766957" cy="7669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4422DC-77B9-40DA-D391-DFE7F4D8E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80" y="193823"/>
            <a:ext cx="1634533" cy="4086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Cardinality in Power BI Relationships</a:t>
            </a:r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00000"/>
                </a:solidFill>
              </a:rPr>
              <a:t>Many to Many Relationship (:)</a:t>
            </a:r>
            <a:endParaRPr sz="1400" b="1">
              <a:solidFill>
                <a:srgbClr val="000000"/>
              </a:solidFill>
            </a:endParaRPr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Many-to-many relationship is possible in Power BI through composite models.</a:t>
            </a:r>
            <a:endParaRPr sz="1400">
              <a:solidFill>
                <a:srgbClr val="000000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It allows establishing relationships where both tables can have multiple instances of values.</a:t>
            </a:r>
            <a:endParaRPr sz="1400">
              <a:solidFill>
                <a:srgbClr val="000000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This removes the need for unique values in the tables and previous workarounds.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500"/>
              </a:spcBef>
              <a:spcAft>
                <a:spcPts val="1600"/>
              </a:spcAft>
              <a:buNone/>
            </a:pPr>
            <a:endParaRPr sz="140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ED54FB-F082-320F-96E9-C98F2AC12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021" y="218245"/>
            <a:ext cx="766957" cy="7669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63D0FE-F5D9-F43A-25EF-3774E1037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80" y="193823"/>
            <a:ext cx="1634533" cy="4086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Filter Direction</a:t>
            </a:r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400"/>
              <a:buChar char="●"/>
            </a:pPr>
            <a:r>
              <a:rPr lang="en" sz="1600">
                <a:solidFill>
                  <a:srgbClr val="000000"/>
                </a:solidFill>
              </a:rPr>
              <a:t>Cross filter direction determines how filtering choices in connected tables affect the data in Power BI.</a:t>
            </a:r>
            <a:endParaRPr sz="1600">
              <a:solidFill>
                <a:srgbClr val="000000"/>
              </a:solidFill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Char char="●"/>
            </a:pPr>
            <a:r>
              <a:rPr lang="en" sz="1600">
                <a:solidFill>
                  <a:srgbClr val="000000"/>
                </a:solidFill>
              </a:rPr>
              <a:t>Two options: Both and Single.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5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247F5C-53D4-F0B9-6617-F58DE026B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021" y="218245"/>
            <a:ext cx="766957" cy="7669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6823DA-F079-4546-95D2-135DDF4E0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80" y="193823"/>
            <a:ext cx="1634533" cy="4086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471900" y="496396"/>
            <a:ext cx="4654868" cy="4029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Both Cross Filter Direction</a:t>
            </a:r>
            <a:endParaRPr dirty="0"/>
          </a:p>
        </p:txBody>
      </p:sp>
      <p:pic>
        <p:nvPicPr>
          <p:cNvPr id="152" name="Google Shape;15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00" y="1243498"/>
            <a:ext cx="3998499" cy="300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 txBox="1"/>
          <p:nvPr/>
        </p:nvSpPr>
        <p:spPr>
          <a:xfrm>
            <a:off x="4862100" y="601723"/>
            <a:ext cx="3831900" cy="28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Both setting treats both tables as a single table for filtering purposes.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Useful in star schema configurations, where a central table has multiple lookup tables.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All tables are filtered together as if they were one entity.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Example: Sales actuals table with a department lookup table.</a:t>
            </a:r>
            <a:endParaRPr sz="1200" dirty="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996BBA-D32D-8289-C341-1F0C55FC1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021" y="218245"/>
            <a:ext cx="766957" cy="7669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14B497F-E25E-34AC-6816-4FD579870E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022" y="93440"/>
            <a:ext cx="1611825" cy="4029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Cross Filter Direction</a:t>
            </a:r>
            <a:endParaRPr/>
          </a:p>
        </p:txBody>
      </p:sp>
      <p:sp>
        <p:nvSpPr>
          <p:cNvPr id="159" name="Google Shape;159;p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Filtering choices in connected tables work on the table where values are being aggregated.</a:t>
            </a:r>
            <a:endParaRPr sz="1400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Data is filtered based on the table where the analysis is being performed.</a:t>
            </a:r>
            <a:endParaRPr sz="1400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>
                <a:solidFill>
                  <a:srgbClr val="000000"/>
                </a:solidFill>
              </a:rPr>
              <a:t>Typically used when importing a Power Pivot in Excel 2013 or earlier data model.</a:t>
            </a:r>
            <a:endParaRPr sz="1200">
              <a:solidFill>
                <a:srgbClr val="374151"/>
              </a:solidFill>
              <a:highlight>
                <a:srgbClr val="F7F7F8"/>
              </a:highlight>
            </a:endParaRPr>
          </a:p>
          <a:p>
            <a:pPr marL="0" lvl="0" indent="0" algn="l" rtl="0">
              <a:spcBef>
                <a:spcPts val="15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08C854-A5FA-529B-33F9-119CDE0C2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021" y="218245"/>
            <a:ext cx="766957" cy="7669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06A5E0-F75C-9E6F-D353-97E0A6405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80" y="193823"/>
            <a:ext cx="1634533" cy="4086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>
            <a:spLocks noGrp="1"/>
          </p:cNvSpPr>
          <p:nvPr>
            <p:ph type="title"/>
          </p:nvPr>
        </p:nvSpPr>
        <p:spPr>
          <a:xfrm>
            <a:off x="460950" y="21824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</a:t>
            </a:r>
            <a:endParaRPr dirty="0"/>
          </a:p>
        </p:txBody>
      </p:sp>
      <p:sp>
        <p:nvSpPr>
          <p:cNvPr id="165" name="Google Shape;165;p25"/>
          <p:cNvSpPr txBox="1">
            <a:spLocks noGrp="1"/>
          </p:cNvSpPr>
          <p:nvPr>
            <p:ph type="body" idx="1"/>
          </p:nvPr>
        </p:nvSpPr>
        <p:spPr>
          <a:xfrm>
            <a:off x="298436" y="1336714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00"/>
                </a:solidFill>
              </a:rPr>
              <a:t>cross-filtering in Power BI using two tables: "Sales" and "Products."</a:t>
            </a:r>
            <a:endParaRPr sz="1200" dirty="0">
              <a:solidFill>
                <a:srgbClr val="374151"/>
              </a:solidFill>
              <a:highlight>
                <a:srgbClr val="F7F7F8"/>
              </a:highlight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00"/>
                </a:solidFill>
              </a:rPr>
              <a:t>Sales Table:</a:t>
            </a:r>
            <a:endParaRPr sz="1400" dirty="0">
              <a:solidFill>
                <a:srgbClr val="000000"/>
              </a:solidFill>
            </a:endParaRPr>
          </a:p>
          <a:p>
            <a:pPr marL="457200" marR="0" lvl="0" indent="-2794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800"/>
              <a:buChar char="●"/>
            </a:pPr>
            <a:r>
              <a:rPr lang="en" sz="1400" dirty="0">
                <a:solidFill>
                  <a:srgbClr val="000000"/>
                </a:solidFill>
              </a:rPr>
              <a:t>Columns: Order ID, Product ID, Quantity, Sales Amount</a:t>
            </a:r>
            <a:endParaRPr sz="1400" dirty="0">
              <a:solidFill>
                <a:srgbClr val="000000"/>
              </a:solidFill>
            </a:endParaRPr>
          </a:p>
          <a:p>
            <a:pPr marL="457200" marR="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Char char="●"/>
            </a:pPr>
            <a:r>
              <a:rPr lang="en" sz="1400" dirty="0">
                <a:solidFill>
                  <a:srgbClr val="000000"/>
                </a:solidFill>
              </a:rPr>
              <a:t>Contains sales data with information about each order, the associated product, quantity sold, and sales amount.</a:t>
            </a:r>
            <a:endParaRPr sz="1400" dirty="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00"/>
                </a:solidFill>
              </a:rPr>
              <a:t>Products Table:</a:t>
            </a:r>
            <a:endParaRPr sz="1400" dirty="0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 dirty="0">
                <a:solidFill>
                  <a:srgbClr val="000000"/>
                </a:solidFill>
              </a:rPr>
              <a:t>Columns: Product ID, Product Name, Category, Price</a:t>
            </a:r>
            <a:endParaRPr sz="1400" dirty="0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 sz="1400" dirty="0">
                <a:solidFill>
                  <a:srgbClr val="000000"/>
                </a:solidFill>
              </a:rPr>
              <a:t>Contains information about each product, including the product name, category, and price.</a:t>
            </a:r>
            <a:endParaRPr sz="1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500"/>
              </a:spcBef>
              <a:spcAft>
                <a:spcPts val="1600"/>
              </a:spcAft>
              <a:buNone/>
            </a:pPr>
            <a:endParaRPr sz="1200" dirty="0">
              <a:solidFill>
                <a:srgbClr val="374151"/>
              </a:solidFill>
              <a:highlight>
                <a:srgbClr val="F7F7F8"/>
              </a:highligh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2702EF-14C3-27D8-9F15-1F42E5D03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021" y="218245"/>
            <a:ext cx="766957" cy="7669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BA949A-775D-7FC7-3BFD-AAD68FCED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22" y="77585"/>
            <a:ext cx="1634533" cy="4086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71" name="Google Shape;171;p26"/>
          <p:cNvSpPr txBox="1">
            <a:spLocks noGrp="1"/>
          </p:cNvSpPr>
          <p:nvPr>
            <p:ph type="body" idx="1"/>
          </p:nvPr>
        </p:nvSpPr>
        <p:spPr>
          <a:xfrm>
            <a:off x="60425" y="159762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Single Cross-Filtering (Default):</a:t>
            </a:r>
            <a:endParaRPr sz="1400">
              <a:solidFill>
                <a:srgbClr val="000000"/>
              </a:solidFill>
            </a:endParaRPr>
          </a:p>
          <a:p>
            <a:pPr marL="914400" lvl="1" indent="-304800" algn="l" rtl="0"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Suppose we create a relationship between the "Sales" table (Order ID) and the "Products" table (Product ID) with the default single cross-filtering direction.</a:t>
            </a:r>
            <a:endParaRPr>
              <a:solidFill>
                <a:srgbClr val="000000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In Power BI visuals, if we filter or slice the "Sales" table by a specific product category (e.g., "Electronics"), only the sales data related to that category will be displayed.</a:t>
            </a:r>
            <a:endParaRPr>
              <a:solidFill>
                <a:srgbClr val="000000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The "Products" table remains unaffected, showing all products irrespective of the applied filter.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11823D-EE8A-4614-BFC0-DBA4C7015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021" y="218245"/>
            <a:ext cx="766957" cy="7669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2637DB-0D03-3E29-D69E-6A84531B6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80" y="193823"/>
            <a:ext cx="1634533" cy="40863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77" name="Google Shape;177;p2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Both Cross-Filtering:</a:t>
            </a:r>
            <a:endParaRPr sz="1400">
              <a:solidFill>
                <a:srgbClr val="000000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Now, let's change the cross-filtering direction to "Both" for the relationship between the "Sales" and "Products" tables.</a:t>
            </a:r>
            <a:endParaRPr>
              <a:solidFill>
                <a:srgbClr val="000000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If we apply a filter on the "Sales" table to show sales data for a specific product category (e.g., "Electronics"), not only will the "Sales" table be filtered, but the "Products" table will also be filtered.</a:t>
            </a:r>
            <a:endParaRPr>
              <a:solidFill>
                <a:srgbClr val="000000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As a result, only the products belonging to the filtered category will be displayed in the "Products" table, providing a more contextual view of the data.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5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613EFA-4C1B-BE1A-CE71-29DB7F1A0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021" y="218245"/>
            <a:ext cx="766957" cy="7669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D21F01-6EA3-6DEA-4AF8-F6F77C9E9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80" y="193823"/>
            <a:ext cx="1634533" cy="40863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4800" b="1">
                <a:solidFill>
                  <a:srgbClr val="000000"/>
                </a:solidFill>
              </a:rPr>
              <a:t>THANK YOU</a:t>
            </a:r>
            <a:endParaRPr sz="4800" b="1">
              <a:solidFill>
                <a:srgbClr val="000000"/>
              </a:solidFill>
            </a:endParaRPr>
          </a:p>
        </p:txBody>
      </p:sp>
      <p:sp>
        <p:nvSpPr>
          <p:cNvPr id="190" name="Google Shape;190;p28"/>
          <p:cNvSpPr txBox="1"/>
          <p:nvPr/>
        </p:nvSpPr>
        <p:spPr>
          <a:xfrm>
            <a:off x="7966800" y="4385100"/>
            <a:ext cx="117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3D90B3-BC93-5F9D-D935-DABD49A4F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021" y="218245"/>
            <a:ext cx="766957" cy="7669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82C29E-B8E5-5224-1BA4-50CA02C69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80" y="193823"/>
            <a:ext cx="1634533" cy="4086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</TotalTime>
  <Words>928</Words>
  <Application>Microsoft Office PowerPoint</Application>
  <PresentationFormat>On-screen Show (16:9)</PresentationFormat>
  <Paragraphs>83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Roboto</vt:lpstr>
      <vt:lpstr>Arial</vt:lpstr>
      <vt:lpstr>Quattrocento Sans</vt:lpstr>
      <vt:lpstr>Poppins</vt:lpstr>
      <vt:lpstr>Nunito</vt:lpstr>
      <vt:lpstr>Gill Sans MT</vt:lpstr>
      <vt:lpstr>Gallery</vt:lpstr>
      <vt:lpstr>Data Modelling in powerBI</vt:lpstr>
      <vt:lpstr>Understanding and Managing Relationships in Power BI Desktop</vt:lpstr>
      <vt:lpstr>Auto detecting Relationships </vt:lpstr>
      <vt:lpstr>Manual Creation of Relationships</vt:lpstr>
      <vt:lpstr>Managing Existing Relationships</vt:lpstr>
      <vt:lpstr>Benefits of Proper Relationship Management</vt:lpstr>
      <vt:lpstr>Cardinality in Power BI Relationships</vt:lpstr>
      <vt:lpstr>Cardinality in Power BI Relationships</vt:lpstr>
      <vt:lpstr>Cardinality in Power BI Relationships</vt:lpstr>
      <vt:lpstr>Cross Filter Direction</vt:lpstr>
      <vt:lpstr>Both Cross Filter Direction</vt:lpstr>
      <vt:lpstr>Single Cross Filter Direction</vt:lpstr>
      <vt:lpstr>Example</vt:lpstr>
      <vt:lpstr>Example</vt:lpstr>
      <vt:lpstr>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Hyper Launch</dc:creator>
  <cp:lastModifiedBy>Hyper Launch</cp:lastModifiedBy>
  <cp:revision>5</cp:revision>
  <dcterms:modified xsi:type="dcterms:W3CDTF">2026-01-03T07:37:48Z</dcterms:modified>
</cp:coreProperties>
</file>